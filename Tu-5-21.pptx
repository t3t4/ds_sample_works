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28"/>
    <p:restoredTop sz="94676"/>
  </p:normalViewPr>
  <p:slideViewPr>
    <p:cSldViewPr snapToGrid="0" snapToObjects="1">
      <p:cViewPr>
        <p:scale>
          <a:sx n="90" d="100"/>
          <a:sy n="90" d="100"/>
        </p:scale>
        <p:origin x="105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ijing Tu" userId="S::haijing.tu@indstate.edu::8f70fbf5-3b0e-4cff-9c41-f7a3e18893a1" providerId="AD" clId="Web-{F808FD3E-55AB-4982-8567-3F8FC1D7279F}"/>
    <pc:docChg chg="modSld">
      <pc:chgData name="Haijing Tu" userId="S::haijing.tu@indstate.edu::8f70fbf5-3b0e-4cff-9c41-f7a3e18893a1" providerId="AD" clId="Web-{F808FD3E-55AB-4982-8567-3F8FC1D7279F}" dt="2018-05-21T12:45:49.947" v="50" actId="20577"/>
      <pc:docMkLst>
        <pc:docMk/>
      </pc:docMkLst>
      <pc:sldChg chg="modSp">
        <pc:chgData name="Haijing Tu" userId="S::haijing.tu@indstate.edu::8f70fbf5-3b0e-4cff-9c41-f7a3e18893a1" providerId="AD" clId="Web-{F808FD3E-55AB-4982-8567-3F8FC1D7279F}" dt="2018-05-21T12:45:10.101" v="2" actId="20577"/>
        <pc:sldMkLst>
          <pc:docMk/>
          <pc:sldMk cId="179387697" sldId="259"/>
        </pc:sldMkLst>
        <pc:spChg chg="mod">
          <ac:chgData name="Haijing Tu" userId="S::haijing.tu@indstate.edu::8f70fbf5-3b0e-4cff-9c41-f7a3e18893a1" providerId="AD" clId="Web-{F808FD3E-55AB-4982-8567-3F8FC1D7279F}" dt="2018-05-21T12:45:10.101" v="2" actId="20577"/>
          <ac:spMkLst>
            <pc:docMk/>
            <pc:sldMk cId="179387697" sldId="259"/>
            <ac:spMk id="3" creationId="{00000000-0000-0000-0000-000000000000}"/>
          </ac:spMkLst>
        </pc:spChg>
      </pc:sldChg>
      <pc:sldChg chg="modSp">
        <pc:chgData name="Haijing Tu" userId="S::haijing.tu@indstate.edu::8f70fbf5-3b0e-4cff-9c41-f7a3e18893a1" providerId="AD" clId="Web-{F808FD3E-55AB-4982-8567-3F8FC1D7279F}" dt="2018-05-21T12:45:49.931" v="49" actId="20577"/>
        <pc:sldMkLst>
          <pc:docMk/>
          <pc:sldMk cId="420837178" sldId="261"/>
        </pc:sldMkLst>
        <pc:spChg chg="mod">
          <ac:chgData name="Haijing Tu" userId="S::haijing.tu@indstate.edu::8f70fbf5-3b0e-4cff-9c41-f7a3e18893a1" providerId="AD" clId="Web-{F808FD3E-55AB-4982-8567-3F8FC1D7279F}" dt="2018-05-21T12:45:49.931" v="49" actId="20577"/>
          <ac:spMkLst>
            <pc:docMk/>
            <pc:sldMk cId="420837178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7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3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14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1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33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3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4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9182-7BAE-1D49-8B81-7C0D9381CE25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1943F-F92C-994F-969E-ED93C9BAD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insideteaching.grad.msu.edu/cultivating-an-inclusive-classroom-inclusive-curriculum-design/" TargetMode="External"/><Relationship Id="rId2" Type="http://schemas.openxmlformats.org/officeDocument/2006/relationships/hyperlink" Target="http://www.aacu.org/programs-partnerships/making-excellence-inclusiv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curriculum.org.uk/main/the-project/what-is-an-inclusive-curriculu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Teaching International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to Expect and How to Communicate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8011" y="8542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Trend with International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Enrollment</a:t>
            </a:r>
          </a:p>
          <a:p>
            <a:r>
              <a:rPr lang="en-US" dirty="0"/>
              <a:t>Places of Origin</a:t>
            </a:r>
          </a:p>
          <a:p>
            <a:r>
              <a:rPr lang="en-US" dirty="0"/>
              <a:t>Leading Host </a:t>
            </a:r>
          </a:p>
          <a:p>
            <a:pPr marL="0" indent="0">
              <a:buNone/>
            </a:pPr>
            <a:r>
              <a:rPr lang="en-US" dirty="0"/>
              <a:t>	Institutions</a:t>
            </a:r>
          </a:p>
          <a:p>
            <a:r>
              <a:rPr lang="en-US" dirty="0"/>
              <a:t>Fields of Study</a:t>
            </a:r>
          </a:p>
          <a:p>
            <a:r>
              <a:rPr lang="en-US" dirty="0"/>
              <a:t>Academic Level</a:t>
            </a:r>
          </a:p>
          <a:p>
            <a:r>
              <a:rPr lang="en-US" dirty="0"/>
              <a:t>Primary Source </a:t>
            </a:r>
          </a:p>
          <a:p>
            <a:pPr marL="0" indent="0">
              <a:buNone/>
            </a:pPr>
            <a:r>
              <a:rPr lang="en-US" dirty="0"/>
              <a:t>	of Funding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057" y="1742759"/>
            <a:ext cx="6953943" cy="47204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43" y="1825625"/>
            <a:ext cx="6483947" cy="51513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686" y="1883626"/>
            <a:ext cx="7062766" cy="41703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040" y="1837391"/>
            <a:ext cx="8670870" cy="44312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326" y="1898630"/>
            <a:ext cx="8245674" cy="43284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31" y="1565376"/>
            <a:ext cx="8622864" cy="542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Perspectives on International Students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Interview with International students</a:t>
            </a:r>
          </a:p>
          <a:p>
            <a:pPr lvl="1"/>
            <a:r>
              <a:rPr lang="en-US" dirty="0"/>
              <a:t>Video 1</a:t>
            </a:r>
          </a:p>
          <a:p>
            <a:endParaRPr lang="en-US" dirty="0"/>
          </a:p>
          <a:p>
            <a:r>
              <a:rPr lang="en-US" dirty="0"/>
              <a:t>Interview with American students</a:t>
            </a:r>
          </a:p>
          <a:p>
            <a:pPr lvl="1"/>
            <a:r>
              <a:rPr lang="en-US" dirty="0"/>
              <a:t>Video 2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1906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113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Teaching students from countries where English is not their first language </a:t>
            </a:r>
          </a:p>
          <a:p>
            <a:r>
              <a:rPr lang="en-US" dirty="0"/>
              <a:t>Almost 30% classes are filled by internationals students.</a:t>
            </a:r>
          </a:p>
          <a:p>
            <a:pPr lvl="1"/>
            <a:r>
              <a:rPr lang="en-US" dirty="0"/>
              <a:t>Spring 2018: 740 international students</a:t>
            </a:r>
          </a:p>
          <a:p>
            <a:pPr lvl="0"/>
            <a:r>
              <a:rPr lang="en-US" dirty="0"/>
              <a:t>How to encourage participation from international students?</a:t>
            </a:r>
          </a:p>
          <a:p>
            <a:pPr lvl="0"/>
            <a:r>
              <a:rPr lang="en-US" dirty="0"/>
              <a:t>How to engage international students? </a:t>
            </a:r>
          </a:p>
        </p:txBody>
      </p:sp>
    </p:spTree>
    <p:extLst>
      <p:ext uri="{BB962C8B-B14F-4D97-AF65-F5344CB8AC3E}">
        <p14:creationId xmlns:p14="http://schemas.microsoft.com/office/powerpoint/2010/main" val="179387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 to Successful Teaching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Keys to successful teaching in a class of international students</a:t>
            </a:r>
          </a:p>
          <a:p>
            <a:pPr lvl="0"/>
            <a:r>
              <a:rPr lang="en-US" altLang="zh-CN" dirty="0"/>
              <a:t>Perception</a:t>
            </a:r>
          </a:p>
          <a:p>
            <a:pPr lvl="0"/>
            <a:r>
              <a:rPr lang="en-US" dirty="0"/>
              <a:t>Self-awareness and awareness of others</a:t>
            </a:r>
          </a:p>
          <a:p>
            <a:pPr lvl="0"/>
            <a:r>
              <a:rPr lang="en-US" dirty="0"/>
              <a:t>Inclusive curriculum </a:t>
            </a:r>
          </a:p>
          <a:p>
            <a:pPr lvl="1"/>
            <a:r>
              <a:rPr lang="en-US" dirty="0"/>
              <a:t>According to the </a:t>
            </a:r>
            <a:r>
              <a:rPr lang="en-US" dirty="0">
                <a:hlinkClick r:id="rId2"/>
              </a:rPr>
              <a:t>Association of American Colleges &amp; Universities</a:t>
            </a:r>
            <a:r>
              <a:rPr lang="en-US" dirty="0"/>
              <a:t>, inclusive classrooms are learning spaces where </a:t>
            </a:r>
            <a:r>
              <a:rPr lang="en-US" b="1" i="1" dirty="0"/>
              <a:t>“active, intentional, and ongoing engagement with diversity” occurs “in ways that increase awareness, content knowledge, cognitive sophistication, and empathetic understanding of the complex individuals interact within systems and institutions.”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source</a:t>
            </a:r>
            <a:r>
              <a:rPr lang="zh-CN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5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Inclusive Teaching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http://www.incurriculum.org.uk/main/the-project/what-is-an-inclusive-curriculum</a:t>
            </a:r>
            <a:endParaRPr lang="en-US" dirty="0"/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Group Activities: Please share your ideas of inclusive teaching.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837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108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Teaching International Students</vt:lpstr>
      <vt:lpstr>New Trend with International Students</vt:lpstr>
      <vt:lpstr>Perspectives on International Students </vt:lpstr>
      <vt:lpstr> Challenges</vt:lpstr>
      <vt:lpstr>Keys to Successful Teaching</vt:lpstr>
      <vt:lpstr>Inclusive Teaching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International Students</dc:title>
  <dc:creator>donkey little Y</dc:creator>
  <cp:lastModifiedBy>donkey little Y</cp:lastModifiedBy>
  <cp:revision>22</cp:revision>
  <dcterms:created xsi:type="dcterms:W3CDTF">2018-05-19T13:35:39Z</dcterms:created>
  <dcterms:modified xsi:type="dcterms:W3CDTF">2018-05-21T12:46:13Z</dcterms:modified>
</cp:coreProperties>
</file>